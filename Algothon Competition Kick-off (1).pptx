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313" r:id="rId6"/>
    <p:sldId id="343" r:id="rId7"/>
    <p:sldId id="352" r:id="rId8"/>
    <p:sldId id="320" r:id="rId9"/>
    <p:sldId id="321" r:id="rId10"/>
    <p:sldId id="323" r:id="rId11"/>
    <p:sldId id="328" r:id="rId12"/>
    <p:sldId id="324" r:id="rId13"/>
    <p:sldId id="345" r:id="rId14"/>
    <p:sldId id="332" r:id="rId15"/>
    <p:sldId id="347" r:id="rId16"/>
    <p:sldId id="346" r:id="rId17"/>
    <p:sldId id="326" r:id="rId18"/>
    <p:sldId id="335" r:id="rId19"/>
    <p:sldId id="329" r:id="rId20"/>
    <p:sldId id="331" r:id="rId21"/>
    <p:sldId id="348" r:id="rId22"/>
    <p:sldId id="349" r:id="rId23"/>
    <p:sldId id="350" r:id="rId24"/>
    <p:sldId id="351" r:id="rId25"/>
    <p:sldId id="31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83DEC-451D-7AC2-7779-670DC6A568D5}" v="153" dt="2026-07-08T06:48:37.829"/>
    <p1510:client id="{105BE918-DA1E-4DBB-928A-4BB5A28F4750}" v="675" dt="2026-07-08T06:48:24.664"/>
    <p1510:client id="{DF02F8CC-6076-90FE-9FAC-4D5F5864205F}" v="9" dt="2026-07-08T07:04:13.4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F287D-7748-44B8-9D98-1CADAAD40487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A451A-0481-4831-89FF-52EF84A5E6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28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C4B8-19E5-C1F9-2DCD-8F5CCDCD7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4AA4D-8E18-5217-EE4C-2C1657138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89DC8-A962-3DE4-5DCC-C06449AA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2277-3520-4CFA-A457-702795A7DA66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58BE4-035E-D520-8128-66206649D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83E8-6C1B-3836-E92C-AE5F2F95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4917-7ECE-47B8-8B61-6FEF0466D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769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DF161-5AB3-2EAD-C83E-23FE21E81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9C5AE-B4B9-9F4A-CDC5-62F5919E6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A99D9-E217-700C-FB91-8A414DE70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2277-3520-4CFA-A457-702795A7DA66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B02E7-1084-D1E2-4F7F-3F52DC19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AF247-E9BF-EFCF-75E0-16DFA3D7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4917-7ECE-47B8-8B61-6FEF0466D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08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C530C-F233-5848-90B7-23053D85D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AFEE1-E9E3-307D-74BC-2C94AC682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20936-776E-C7A5-FCCA-41A7FD96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2277-3520-4CFA-A457-702795A7DA66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EFEDE-BC65-BB74-7114-00A7BECE9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09BDE-D46A-FACF-11CA-2A737ED4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4917-7ECE-47B8-8B61-6FEF0466D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7177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500E-41A2-DE36-5A56-82936675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159F7-0FF1-2BAF-8649-D91D26491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8BEBC-12A5-FB7A-A702-0B5E8917C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B4165-D332-44F0-3050-856B7F583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2277-3520-4CFA-A457-702795A7DA66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0574B-7D75-7BDC-7C81-0F26CEFD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3352A-650B-FE7B-A868-69C0437E6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4917-7ECE-47B8-8B61-6FEF0466D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9863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1F679-67A5-857A-DF47-6A221AB78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BDD6C-5199-0F63-A425-C26D6FA16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A50DB-A100-F75D-4B52-5B8A923C3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5D0771-9CCC-5112-369B-84DF95FBE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5DA221-E86B-C9C5-750E-4E78E80DB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CD18D4-32D3-43C2-DB94-FC7C31F0E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2277-3520-4CFA-A457-702795A7DA66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B473AA-0E9A-5530-E6D7-CD20E42D7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D578A9-42AB-968C-00F2-085639907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4917-7ECE-47B8-8B61-6FEF0466D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689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DF259-6995-DD32-A245-3F1B4267A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C6DB3E-1AAE-BD0B-7844-00070CFB5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2277-3520-4CFA-A457-702795A7DA66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41008-6245-0B07-8FDD-4A4222ED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E2373-B80D-60F5-9CAB-8667539B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4917-7ECE-47B8-8B61-6FEF0466D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190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1223F-75BB-4D08-4A44-5AEC7355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2277-3520-4CFA-A457-702795A7DA66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E0CB6F-AC14-6F39-AF6A-D7B39A73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403E4-F4DD-8A51-0116-D8FD54F9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4917-7ECE-47B8-8B61-6FEF0466D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940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1EC1F-B087-2D4F-E8C9-3FBA7B63D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90C14-9093-FCE4-D281-43A3603B7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7E794-B6CC-A7E5-F25E-67EFF515F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E162D-1ABB-0FE4-035D-23895ECC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2277-3520-4CFA-A457-702795A7DA66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10C80-B716-2FB2-350C-27EF2F398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CC928-C935-D4A6-D0B7-058EF4194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4917-7ECE-47B8-8B61-6FEF0466D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36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6433-C1E7-A08A-B794-9BE9307C9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A2ACB-6413-B96A-2B4D-B84321F8C4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39E4F-E2AA-4239-C372-08244F8BE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FE32E-7FE8-4EDF-0512-ED752C5E4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2277-3520-4CFA-A457-702795A7DA66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81298-8D43-5BF2-F436-014BA413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8A4FA-1704-3766-8C4E-705D0C2A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4917-7ECE-47B8-8B61-6FEF0466D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956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1EA6F-01CF-37C7-DC50-644D92ADB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AA1D8A-27E3-F741-E861-987BDF63C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93173-EEC6-825C-B985-1A6C14DF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2277-3520-4CFA-A457-702795A7DA66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C3534-25EB-6869-6C9B-2F335054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57C87-9B7A-C907-8827-B9E73A85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4917-7ECE-47B8-8B61-6FEF0466D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42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24952-757A-8A4B-DBC9-D2A5B170E5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329087-520F-50D0-B4BC-8D1D5F0D3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4E8FB-8CD0-0ED3-EDA8-776E947D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2277-3520-4CFA-A457-702795A7DA66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2C019-495A-96AC-1F98-8ABBE4804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8A2E1-8A19-DA50-017E-261CE6BD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54917-7ECE-47B8-8B61-6FEF0466D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667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AE74DB-8070-E1E5-8BBC-1254C617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9C4C4-875D-CC2E-EA97-50D0123B6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2582D-055C-36D6-4C92-917BA7696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32277-3520-4CFA-A457-702795A7DA66}" type="datetimeFigureOut">
              <a:rPr lang="en-AU" smtClean="0"/>
              <a:t>8/07/2026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2CD46-A7DE-8E45-C8C0-161B1ED6F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E9DE4-74BD-8CD4-0C81-BD8092D5E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B54917-7ECE-47B8-8B61-6FEF0466D8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1732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6B8C04B-F11C-45E8-7CC5-2B1DE4184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E9B6E6-2C53-A287-4203-E3BAB45B7B6B}"/>
              </a:ext>
            </a:extLst>
          </p:cNvPr>
          <p:cNvSpPr txBox="1"/>
          <p:nvPr/>
        </p:nvSpPr>
        <p:spPr>
          <a:xfrm>
            <a:off x="4108450" y="5239657"/>
            <a:ext cx="46228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>
                <a:solidFill>
                  <a:srgbClr val="FFFFFF"/>
                </a:solidFill>
                <a:latin typeface="Aptos Display"/>
              </a:rPr>
              <a:t>Event Launch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75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D970B-B0EA-412D-C4B2-305E81E2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F04025-8697-3592-25C3-59C584AEA1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65F4FD-135F-516B-806B-D1015824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619" y="526664"/>
            <a:ext cx="10515600" cy="712826"/>
          </a:xfrm>
        </p:spPr>
        <p:txBody>
          <a:bodyPr>
            <a:normAutofit/>
          </a:bodyPr>
          <a:lstStyle/>
          <a:p>
            <a:r>
              <a:rPr lang="en-US" b="1"/>
              <a:t>Agenda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183F-D5FD-EE73-12C5-5F866C780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363" y="1638164"/>
            <a:ext cx="8126627" cy="26361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Competition Overview</a:t>
            </a:r>
          </a:p>
          <a:p>
            <a:r>
              <a:rPr lang="en-US"/>
              <a:t>Prizes  </a:t>
            </a:r>
          </a:p>
          <a:p>
            <a:r>
              <a:rPr lang="en-US"/>
              <a:t>Problem Statement </a:t>
            </a:r>
          </a:p>
          <a:p>
            <a:r>
              <a:rPr lang="en-US"/>
              <a:t>Q&amp;A</a:t>
            </a:r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3F8385-2CA5-7092-4C4D-9E5B4770F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13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1E89B-58A2-8D59-CFAA-AFB54448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209B8A-7F8D-8088-2E32-BDD9B18983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CCB558-6574-231E-D77B-86C0F85BA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619" y="526664"/>
            <a:ext cx="10515600" cy="712826"/>
          </a:xfrm>
        </p:spPr>
        <p:txBody>
          <a:bodyPr>
            <a:normAutofit/>
          </a:bodyPr>
          <a:lstStyle/>
          <a:p>
            <a:r>
              <a:rPr lang="en-US" b="1"/>
              <a:t>Overview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A178EB-9D4D-7BA4-6EE3-669EA1B52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2AECDC-8027-9488-4251-26292AA95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923716"/>
              </p:ext>
            </p:extLst>
          </p:nvPr>
        </p:nvGraphicFramePr>
        <p:xfrm>
          <a:off x="1676400" y="2809565"/>
          <a:ext cx="9001007" cy="2756213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5852413">
                  <a:extLst>
                    <a:ext uri="{9D8B030D-6E8A-4147-A177-3AD203B41FA5}">
                      <a16:colId xmlns:a16="http://schemas.microsoft.com/office/drawing/2014/main" val="139775170"/>
                    </a:ext>
                  </a:extLst>
                </a:gridCol>
                <a:gridCol w="3148594">
                  <a:extLst>
                    <a:ext uri="{9D8B030D-6E8A-4147-A177-3AD203B41FA5}">
                      <a16:colId xmlns:a16="http://schemas.microsoft.com/office/drawing/2014/main" val="4227651916"/>
                    </a:ext>
                  </a:extLst>
                </a:gridCol>
              </a:tblGrid>
              <a:tr h="413063"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1800">
                          <a:effectLst/>
                        </a:rPr>
                        <a:t>Test Dataset Released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1800">
                          <a:effectLst/>
                        </a:rPr>
                        <a:t>Wednesday, 8 July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576099476"/>
                  </a:ext>
                </a:extLst>
              </a:tr>
              <a:tr h="474079"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1800">
                          <a:effectLst/>
                        </a:rPr>
                        <a:t>Webinar + Qualifying Dataset Released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1800">
                          <a:effectLst/>
                        </a:rPr>
                        <a:t>Thursday, 16 July 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162684879"/>
                  </a:ext>
                </a:extLst>
              </a:tr>
              <a:tr h="474079"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1800">
                          <a:effectLst/>
                        </a:rPr>
                        <a:t>Qualifying Round Closes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1800">
                          <a:effectLst/>
                        </a:rPr>
                        <a:t>Thursday, 30 July 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790868410"/>
                  </a:ext>
                </a:extLst>
              </a:tr>
              <a:tr h="474079"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1800">
                          <a:effectLst/>
                        </a:rPr>
                        <a:t>Finalists Announced + Finalist Dataset Released 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1800">
                          <a:effectLst/>
                        </a:rPr>
                        <a:t>Monday, 3 August 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111684821"/>
                  </a:ext>
                </a:extLst>
              </a:tr>
              <a:tr h="474079"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1800">
                          <a:effectLst/>
                        </a:rPr>
                        <a:t>Finalist Round Closes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1800">
                          <a:effectLst/>
                        </a:rPr>
                        <a:t>Monday,10 August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958783644"/>
                  </a:ext>
                </a:extLst>
              </a:tr>
              <a:tr h="446834"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1800">
                          <a:effectLst/>
                        </a:rPr>
                        <a:t>Finals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1800">
                          <a:effectLst/>
                        </a:rPr>
                        <a:t>Thursday,13 August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138567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83DFDF1-4AA6-3097-AFF2-C0B07C8C280A}"/>
              </a:ext>
            </a:extLst>
          </p:cNvPr>
          <p:cNvSpPr txBox="1"/>
          <p:nvPr/>
        </p:nvSpPr>
        <p:spPr>
          <a:xfrm>
            <a:off x="1676400" y="1193001"/>
            <a:ext cx="90010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Algothon</a:t>
            </a:r>
            <a:r>
              <a:rPr lang="en-US"/>
              <a:t> is an algorithmic trading competition targeted at students who are enrolled in an Australian or New Zealand university. Participants will be given mock historical price data for a variety of instruments and will be tasked with writing a program which trades them.</a:t>
            </a:r>
          </a:p>
          <a:p>
            <a:endParaRPr lang="en-US"/>
          </a:p>
          <a:p>
            <a:r>
              <a:rPr lang="en-US" b="1"/>
              <a:t>Important Dates:</a:t>
            </a:r>
            <a:endParaRPr lang="en-AU" b="1"/>
          </a:p>
        </p:txBody>
      </p:sp>
    </p:spTree>
    <p:extLst>
      <p:ext uri="{BB962C8B-B14F-4D97-AF65-F5344CB8AC3E}">
        <p14:creationId xmlns:p14="http://schemas.microsoft.com/office/powerpoint/2010/main" val="831152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2D11B-4C28-73B5-7457-F5A1A45E4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5DE92A-2113-E44E-37C5-3162683341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06CBDA-8709-6149-52D3-BE67DFECD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619" y="526664"/>
            <a:ext cx="10515600" cy="712826"/>
          </a:xfrm>
        </p:spPr>
        <p:txBody>
          <a:bodyPr>
            <a:normAutofit/>
          </a:bodyPr>
          <a:lstStyle/>
          <a:p>
            <a:r>
              <a:rPr lang="en-US" b="1"/>
              <a:t>Prizes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338CE0-AE5F-8B61-CF8A-285E35555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E06539-D969-9904-E3CC-581936CC1CD9}"/>
              </a:ext>
            </a:extLst>
          </p:cNvPr>
          <p:cNvSpPr txBox="1"/>
          <p:nvPr/>
        </p:nvSpPr>
        <p:spPr>
          <a:xfrm>
            <a:off x="2093913" y="1239490"/>
            <a:ext cx="8004174" cy="4001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/>
              <a:t>1</a:t>
            </a:r>
            <a:r>
              <a:rPr lang="en-US" sz="4000" baseline="30000"/>
              <a:t>st</a:t>
            </a:r>
            <a:r>
              <a:rPr lang="en-US" sz="4000"/>
              <a:t> Place - $5,000pp</a:t>
            </a:r>
          </a:p>
          <a:p>
            <a:pPr algn="ctr"/>
            <a:endParaRPr lang="en-US" sz="4000"/>
          </a:p>
          <a:p>
            <a:pPr algn="ctr"/>
            <a:r>
              <a:rPr lang="en-US" sz="4000"/>
              <a:t>2</a:t>
            </a:r>
            <a:r>
              <a:rPr lang="en-US" sz="4000" baseline="30000"/>
              <a:t>nd</a:t>
            </a:r>
            <a:r>
              <a:rPr lang="en-US" sz="4000"/>
              <a:t> Place - $2,500pp</a:t>
            </a:r>
          </a:p>
          <a:p>
            <a:pPr algn="ctr"/>
            <a:endParaRPr lang="en-US" sz="4000"/>
          </a:p>
          <a:p>
            <a:pPr algn="ctr"/>
            <a:r>
              <a:rPr lang="en-US" sz="4000"/>
              <a:t>3</a:t>
            </a:r>
            <a:r>
              <a:rPr lang="en-US" sz="4000" baseline="30000"/>
              <a:t>rd</a:t>
            </a:r>
            <a:r>
              <a:rPr lang="en-US" sz="4000"/>
              <a:t> Place - $1,000pp</a:t>
            </a:r>
          </a:p>
          <a:p>
            <a:pPr algn="ctr"/>
            <a:endParaRPr lang="en-US" sz="4000" i="1"/>
          </a:p>
          <a:p>
            <a:pPr algn="ctr"/>
            <a:r>
              <a:rPr lang="en-US" sz="1400" i="1"/>
              <a:t>Top 10 teams will be invited to present their strategies at the 2026 Algothon final in our Sydney Office. </a:t>
            </a:r>
            <a:endParaRPr lang="en-AU" sz="1400" i="1"/>
          </a:p>
        </p:txBody>
      </p:sp>
    </p:spTree>
    <p:extLst>
      <p:ext uri="{BB962C8B-B14F-4D97-AF65-F5344CB8AC3E}">
        <p14:creationId xmlns:p14="http://schemas.microsoft.com/office/powerpoint/2010/main" val="1349255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D925B-5E42-CC42-A7AA-2BB6386D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A6CF66-1E59-EABC-3815-47545D8AD5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5EF210-EC06-4441-E94D-9DE5EFC62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B5DC0D37-8B06-D1B2-47DC-C47B0638B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pic>
        <p:nvPicPr>
          <p:cNvPr id="4" name="Pictur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DA8C1B62-2C27-5104-49EA-D3241C302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164" y="1711690"/>
            <a:ext cx="10243279" cy="113612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231C404-32A4-3062-DFA7-809C3E54E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448381"/>
              </p:ext>
            </p:extLst>
          </p:nvPr>
        </p:nvGraphicFramePr>
        <p:xfrm>
          <a:off x="2966595" y="3156810"/>
          <a:ext cx="5734050" cy="494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350">
                  <a:extLst>
                    <a:ext uri="{9D8B030D-6E8A-4147-A177-3AD203B41FA5}">
                      <a16:colId xmlns:a16="http://schemas.microsoft.com/office/drawing/2014/main" val="1204531477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3595914912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879015398"/>
                    </a:ext>
                  </a:extLst>
                </a:gridCol>
              </a:tblGrid>
              <a:tr h="494411"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buNone/>
                      </a:pPr>
                      <a:r>
                        <a:rPr lang="en-US" sz="2400" b="1" kern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 ALGO 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a:t>…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1" kern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50. EAFC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803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124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90CA0-EF46-611B-EF92-555C8F36A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0A45DE-9A8F-4300-37A8-BE659502D9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2E293A-E14D-3854-B90B-5AEA75B15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DE09200F-2421-2A5E-6AAA-24D85F3B6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pic>
        <p:nvPicPr>
          <p:cNvPr id="2" name="Picture 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6AC3330-5482-0BC3-82CD-12D265FB7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94" y="1781289"/>
            <a:ext cx="10905345" cy="130298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1A583D-138F-8323-11E1-2DF712392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841817"/>
              </p:ext>
            </p:extLst>
          </p:nvPr>
        </p:nvGraphicFramePr>
        <p:xfrm>
          <a:off x="1773629" y="3195931"/>
          <a:ext cx="7645400" cy="20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350">
                  <a:extLst>
                    <a:ext uri="{9D8B030D-6E8A-4147-A177-3AD203B41FA5}">
                      <a16:colId xmlns:a16="http://schemas.microsoft.com/office/drawing/2014/main" val="1367063322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1378723206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686068577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1183169447"/>
                    </a:ext>
                  </a:extLst>
                </a:gridCol>
              </a:tblGrid>
              <a:tr h="49441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buNone/>
                      </a:pPr>
                      <a:r>
                        <a:rPr lang="en-US" sz="2400" b="1" kern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 ALGO 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1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a:t>…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b="1" kern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50. EAFC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111587"/>
                  </a:ext>
                </a:extLst>
              </a:tr>
              <a:tr h="494411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Day 1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100.00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AU" sz="2400" kern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45.08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034384"/>
                  </a:ext>
                </a:extLst>
              </a:tr>
              <a:tr h="494411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Day 2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buNone/>
                      </a:pPr>
                      <a:r>
                        <a:rPr lang="en-AU" sz="2400" kern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98.49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400" kern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44.28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176622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buNone/>
                      </a:pPr>
                      <a:r>
                        <a:rPr lang="en-US" sz="2400" b="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a:t>⋮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buNone/>
                      </a:pPr>
                      <a:r>
                        <a:rPr lang="en-US" sz="2400" b="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a:t>⋮</a:t>
                      </a:r>
                      <a:endParaRPr lang="en-AU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923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935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17660-42F2-DE9A-DE9A-66DFC77C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E14298-490E-D5E5-DFDD-98BEB36BDF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211726-3F3D-AA66-D11A-6B2624983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6FCF70B-DB69-50B1-1627-04CC1CD40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pic>
        <p:nvPicPr>
          <p:cNvPr id="2" name="Picture 1" descr="A black background with blue and orange text&#10;&#10;AI-generated content may be incorrect.">
            <a:extLst>
              <a:ext uri="{FF2B5EF4-FFF2-40B4-BE49-F238E27FC236}">
                <a16:creationId xmlns:a16="http://schemas.microsoft.com/office/drawing/2014/main" id="{D88683D0-A3D0-BBF6-EBBD-93326E1F0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36" y="1885460"/>
            <a:ext cx="10830394" cy="124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43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701ED-11ED-119D-DE5E-0E66565C3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F9020A-A145-09D2-8380-2C81364BF5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810288-E862-AA77-3A33-58F57EB10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2B0F658E-1415-67BF-19D8-5560D6AC6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pic>
        <p:nvPicPr>
          <p:cNvPr id="2" name="Picture 1" descr="A black background with blue and orange text&#10;&#10;AI-generated content may be incorrect.">
            <a:extLst>
              <a:ext uri="{FF2B5EF4-FFF2-40B4-BE49-F238E27FC236}">
                <a16:creationId xmlns:a16="http://schemas.microsoft.com/office/drawing/2014/main" id="{612800FC-B47C-069D-5457-0ED491AC0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36" y="1885460"/>
            <a:ext cx="10830394" cy="1244540"/>
          </a:xfrm>
          <a:prstGeom prst="rect">
            <a:avLst/>
          </a:prstGeom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E73DBCAD-7CC3-2CDA-824A-6EA81E101391}"/>
              </a:ext>
            </a:extLst>
          </p:cNvPr>
          <p:cNvSpPr txBox="1"/>
          <p:nvPr/>
        </p:nvSpPr>
        <p:spPr>
          <a:xfrm>
            <a:off x="893505" y="3127607"/>
            <a:ext cx="9902137" cy="209288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1B355D"/>
                </a:solidFill>
              </a:rPr>
              <a:t>Each of your dollar positions (price x size) in every asset on every day is limited (long or short):</a:t>
            </a:r>
            <a:endParaRPr lang="en-US"/>
          </a:p>
          <a:p>
            <a:r>
              <a:rPr lang="en-US" sz="2800">
                <a:latin typeface="Arial"/>
                <a:cs typeface="Arial"/>
              </a:rPr>
              <a:t>•</a:t>
            </a:r>
            <a:r>
              <a:rPr lang="en-US" sz="2800">
                <a:solidFill>
                  <a:srgbClr val="1B355D"/>
                </a:solidFill>
              </a:rPr>
              <a:t>On the first asset (ALGO), to a </a:t>
            </a:r>
            <a:r>
              <a:rPr lang="en-US" sz="2800" b="1">
                <a:solidFill>
                  <a:srgbClr val="1B355D"/>
                </a:solidFill>
              </a:rPr>
              <a:t>max of $100,000</a:t>
            </a:r>
            <a:r>
              <a:rPr lang="en-US" sz="2800">
                <a:solidFill>
                  <a:srgbClr val="1B355D"/>
                </a:solidFill>
              </a:rPr>
              <a:t>. </a:t>
            </a:r>
            <a:endParaRPr lang="en-US"/>
          </a:p>
          <a:p>
            <a:r>
              <a:rPr lang="en-US" sz="2800">
                <a:latin typeface="Arial"/>
                <a:cs typeface="Arial"/>
              </a:rPr>
              <a:t>•</a:t>
            </a:r>
            <a:r>
              <a:rPr lang="en-US" sz="2800">
                <a:solidFill>
                  <a:srgbClr val="1B355D"/>
                </a:solidFill>
              </a:rPr>
              <a:t>On all other assets, to a </a:t>
            </a:r>
            <a:r>
              <a:rPr lang="en-US" sz="2800" b="1">
                <a:solidFill>
                  <a:srgbClr val="1B355D"/>
                </a:solidFill>
              </a:rPr>
              <a:t>max of $10,000</a:t>
            </a:r>
            <a:r>
              <a:rPr lang="en-US" sz="2800">
                <a:solidFill>
                  <a:srgbClr val="1B355D"/>
                </a:solidFill>
              </a:rPr>
              <a:t>. 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1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9EE3B-189D-E0B3-97BD-B027F59AF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BEC23C-FB75-F7E4-E174-71EE5E7B0C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5F8B5E-E778-25BD-B621-15F41D468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E92D64C-5F98-5C6C-5DA1-BFDFF6376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pic>
        <p:nvPicPr>
          <p:cNvPr id="2" name="Picture 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53FB293-480B-16D5-4223-8852898FB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62" y="1862468"/>
            <a:ext cx="10886607" cy="242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94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92A1E-6C92-8BE9-A1E9-B357EB597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091C76-C9D6-D97A-ED6E-0CFB8AE418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435016-A028-1574-2DB7-3944F3625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DF11F00-7DEB-492B-9FC3-7D200E52C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220C86-74FF-D12B-FD23-04B7EA680FF2}"/>
              </a:ext>
            </a:extLst>
          </p:cNvPr>
          <p:cNvSpPr txBox="1"/>
          <p:nvPr/>
        </p:nvSpPr>
        <p:spPr>
          <a:xfrm>
            <a:off x="741217" y="1662545"/>
            <a:ext cx="8173272" cy="1000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1B355D"/>
                </a:solidFill>
              </a:rPr>
              <a:t>You are scored using the utility function: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700">
                <a:solidFill>
                  <a:srgbClr val="1B355D"/>
                </a:solidFill>
                <a:latin typeface="Cambria Math"/>
                <a:ea typeface="Cambria Math"/>
              </a:rPr>
              <a:t>PL</a:t>
            </a:r>
            <a:r>
              <a:rPr lang="en-US" sz="2700">
                <a:solidFill>
                  <a:srgbClr val="1B355D"/>
                </a:solidFill>
              </a:rPr>
              <a:t> is the change in portfolio value across days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55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5CCAA-B482-7DB6-FAE2-9DC51CC4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B75352-BDE5-AB2F-B2F6-B4C3871A71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3C1E5-B454-98F9-A54D-87D27EB69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1C33AC80-D4DD-83F8-35A1-292CB0971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F405A8-656A-546D-C733-627F62B4A674}"/>
              </a:ext>
            </a:extLst>
          </p:cNvPr>
          <p:cNvSpPr txBox="1"/>
          <p:nvPr/>
        </p:nvSpPr>
        <p:spPr>
          <a:xfrm>
            <a:off x="741217" y="1662545"/>
            <a:ext cx="8173272" cy="18312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1B355D"/>
                </a:solidFill>
              </a:rPr>
              <a:t>You are scored using the utility function: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700">
                <a:solidFill>
                  <a:srgbClr val="1B355D"/>
                </a:solidFill>
                <a:latin typeface="Cambria Math"/>
                <a:ea typeface="Cambria Math"/>
              </a:rPr>
              <a:t>PL</a:t>
            </a:r>
            <a:r>
              <a:rPr lang="en-US" sz="2700">
                <a:solidFill>
                  <a:srgbClr val="1B355D"/>
                </a:solidFill>
              </a:rPr>
              <a:t> is the change in portfolio value across days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Cambria Math"/>
                <a:ea typeface="Cambria Math"/>
              </a:rPr>
              <a:t>μ=Mean⁡(PL)</a:t>
            </a:r>
            <a:endParaRPr lang="en-US"/>
          </a:p>
          <a:p>
            <a:pPr marL="457200" indent="-457200" algn="l">
              <a:buFont typeface="Arial"/>
              <a:buChar char="•"/>
            </a:pPr>
            <a:r>
              <a:rPr lang="en-US" sz="2700">
                <a:latin typeface="Cambria Math"/>
                <a:ea typeface="Cambria Math"/>
              </a:rPr>
              <a:t>σ=</a:t>
            </a:r>
            <a:r>
              <a:rPr lang="en-US" sz="2700" err="1">
                <a:latin typeface="Cambria Math"/>
                <a:ea typeface="Cambria Math"/>
              </a:rPr>
              <a:t>StdDev</a:t>
            </a:r>
            <a:r>
              <a:rPr lang="en-US" sz="2700">
                <a:latin typeface="Cambria Math"/>
                <a:ea typeface="Cambria Math"/>
              </a:rPr>
              <a:t>⁡(PL)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06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DCB37-D92B-25F0-B24C-BBF01498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217DD1-99A2-100C-D444-C36623FD09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5E0038-16F1-C3BC-E30F-73F16988B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DD84528C-DB71-2961-4C2E-B032A0C43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1144F2-6F84-B1E7-0C76-AC7DCE2506E0}"/>
              </a:ext>
            </a:extLst>
          </p:cNvPr>
          <p:cNvSpPr txBox="1"/>
          <p:nvPr/>
        </p:nvSpPr>
        <p:spPr>
          <a:xfrm>
            <a:off x="741217" y="1662545"/>
            <a:ext cx="8173272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1B355D"/>
                </a:solidFill>
              </a:rPr>
              <a:t>You are scored using the utility function: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700">
                <a:solidFill>
                  <a:srgbClr val="1B355D"/>
                </a:solidFill>
                <a:latin typeface="Cambria Math"/>
                <a:ea typeface="Cambria Math"/>
              </a:rPr>
              <a:t>PL</a:t>
            </a:r>
            <a:r>
              <a:rPr lang="en-US" sz="2700">
                <a:solidFill>
                  <a:srgbClr val="1B355D"/>
                </a:solidFill>
              </a:rPr>
              <a:t> is the change in portfolio value across days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Cambria Math"/>
                <a:ea typeface="Cambria Math"/>
              </a:rPr>
              <a:t>μ=Mean⁡(PL)</a:t>
            </a:r>
            <a:endParaRPr lang="en-US"/>
          </a:p>
          <a:p>
            <a:pPr marL="457200" indent="-457200" algn="l">
              <a:buFont typeface="Arial"/>
              <a:buChar char="•"/>
            </a:pPr>
            <a:r>
              <a:rPr lang="en-US" sz="2700">
                <a:latin typeface="Cambria Math"/>
                <a:ea typeface="Cambria Math"/>
              </a:rPr>
              <a:t>σ=</a:t>
            </a:r>
            <a:r>
              <a:rPr lang="en-US" sz="2700" err="1">
                <a:latin typeface="Cambria Math"/>
                <a:ea typeface="Cambria Math"/>
              </a:rPr>
              <a:t>StdDev</a:t>
            </a:r>
            <a:r>
              <a:rPr lang="en-US" sz="2700">
                <a:latin typeface="Cambria Math"/>
                <a:ea typeface="Cambria Math"/>
              </a:rPr>
              <a:t>⁡(PL)</a:t>
            </a:r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Cambria Math"/>
                <a:ea typeface="Cambria Math"/>
              </a:rPr>
              <a:t>SR=√250⋅μ/σ</a:t>
            </a:r>
          </a:p>
          <a:p>
            <a:endParaRPr lang="en-US" sz="2700">
              <a:latin typeface="Cambria Math"/>
              <a:ea typeface="Cambria Math"/>
            </a:endParaRPr>
          </a:p>
          <a:p>
            <a:pPr marL="457200" indent="-457200">
              <a:buFont typeface="Arial"/>
              <a:buChar char="•"/>
            </a:pPr>
            <a:endParaRPr lang="en-US" sz="2700">
              <a:latin typeface="Cambria Math"/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064719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D087C-947C-6D7C-94FD-A632507E9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AF12BD-2074-19ED-2448-BDE702686E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BD9444-1FB6-09DC-6877-0DAB790F0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B429CD6-09BC-5D18-455E-981B0BC3C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A9E6BD-57E0-DBB9-442A-FFB0EF025210}"/>
              </a:ext>
            </a:extLst>
          </p:cNvPr>
          <p:cNvSpPr txBox="1"/>
          <p:nvPr/>
        </p:nvSpPr>
        <p:spPr>
          <a:xfrm>
            <a:off x="741217" y="1662545"/>
            <a:ext cx="8173272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1B355D"/>
                </a:solidFill>
              </a:rPr>
              <a:t>You are scored using the utility function: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700">
                <a:solidFill>
                  <a:srgbClr val="1B355D"/>
                </a:solidFill>
                <a:latin typeface="Cambria Math"/>
                <a:ea typeface="Cambria Math"/>
              </a:rPr>
              <a:t>PL</a:t>
            </a:r>
            <a:r>
              <a:rPr lang="en-US" sz="2700">
                <a:solidFill>
                  <a:srgbClr val="1B355D"/>
                </a:solidFill>
              </a:rPr>
              <a:t> is the change in portfolio value across days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Cambria Math"/>
                <a:ea typeface="Cambria Math"/>
              </a:rPr>
              <a:t>μ=Mean⁡(PL)</a:t>
            </a:r>
            <a:endParaRPr lang="en-US"/>
          </a:p>
          <a:p>
            <a:pPr marL="457200" indent="-457200" algn="l">
              <a:buFont typeface="Arial"/>
              <a:buChar char="•"/>
            </a:pPr>
            <a:r>
              <a:rPr lang="en-US" sz="2700">
                <a:latin typeface="Cambria Math"/>
                <a:ea typeface="Cambria Math"/>
              </a:rPr>
              <a:t>σ=</a:t>
            </a:r>
            <a:r>
              <a:rPr lang="en-US" sz="2700" err="1">
                <a:latin typeface="Cambria Math"/>
                <a:ea typeface="Cambria Math"/>
              </a:rPr>
              <a:t>StdDev</a:t>
            </a:r>
            <a:r>
              <a:rPr lang="en-US" sz="2700">
                <a:latin typeface="Cambria Math"/>
                <a:ea typeface="Cambria Math"/>
              </a:rPr>
              <a:t>⁡(PL)</a:t>
            </a:r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Cambria Math"/>
                <a:ea typeface="Cambria Math"/>
              </a:rPr>
              <a:t>SR=√250⋅μ/σ</a:t>
            </a:r>
          </a:p>
          <a:p>
            <a:endParaRPr lang="en-US" sz="2700">
              <a:latin typeface="Cambria Math"/>
              <a:ea typeface="Cambria Math"/>
            </a:endParaRPr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Cambria Math"/>
                <a:ea typeface="Cambria Math"/>
              </a:rPr>
              <a:t>Score=</a:t>
            </a:r>
            <a:endParaRPr lang="en-US"/>
          </a:p>
        </p:txBody>
      </p:sp>
      <p:pic>
        <p:nvPicPr>
          <p:cNvPr id="9" name="Picture 8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3A58891-14F9-0940-7912-02037764A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0996" y="3950064"/>
            <a:ext cx="2760533" cy="123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06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DA386-F02C-2D37-88E0-CDAE8BA3F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3E77CE-B2A8-C3DE-C5FB-7265C59E99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B055E3-C62E-62EE-CF01-F0B5E6131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F093A50-E158-AD29-4FEA-8BDC20166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pic>
        <p:nvPicPr>
          <p:cNvPr id="2" name="Picture 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5D386B67-890F-F2F4-6E48-0CC204F7B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688" y="1459711"/>
            <a:ext cx="9094033" cy="358256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2C07D7-979E-28D3-F14C-5B0485EBA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001941"/>
              </p:ext>
            </p:extLst>
          </p:nvPr>
        </p:nvGraphicFramePr>
        <p:xfrm>
          <a:off x="5022223" y="3915193"/>
          <a:ext cx="2222504" cy="1126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813">
                  <a:extLst>
                    <a:ext uri="{9D8B030D-6E8A-4147-A177-3AD203B41FA5}">
                      <a16:colId xmlns:a16="http://schemas.microsoft.com/office/drawing/2014/main" val="3193053960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970806884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2356040362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1360431458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858221055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3505431283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1514236040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3952682748"/>
                    </a:ext>
                  </a:extLst>
                </a:gridCol>
              </a:tblGrid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006686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16649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331091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063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054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D1058-4519-70ED-E1DB-598CAB4EF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640CF8-1FAB-EAD7-556E-10A1140BB0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1386D-F090-1BB9-68D3-DE94CF19B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8D57AF06-815D-11CC-AB6A-421B3DA04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0503F5-1D4E-85B3-B51E-D79B8575F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702471"/>
              </p:ext>
            </p:extLst>
          </p:nvPr>
        </p:nvGraphicFramePr>
        <p:xfrm>
          <a:off x="4791125" y="4165029"/>
          <a:ext cx="2222504" cy="1126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813">
                  <a:extLst>
                    <a:ext uri="{9D8B030D-6E8A-4147-A177-3AD203B41FA5}">
                      <a16:colId xmlns:a16="http://schemas.microsoft.com/office/drawing/2014/main" val="3193053960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970806884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2356040362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1360431458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858221055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3505431283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1514236040"/>
                    </a:ext>
                  </a:extLst>
                </a:gridCol>
                <a:gridCol w="277813">
                  <a:extLst>
                    <a:ext uri="{9D8B030D-6E8A-4147-A177-3AD203B41FA5}">
                      <a16:colId xmlns:a16="http://schemas.microsoft.com/office/drawing/2014/main" val="3952682748"/>
                    </a:ext>
                  </a:extLst>
                </a:gridCol>
              </a:tblGrid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006686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416649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331091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063974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A302A2BA-39CE-C82C-66DB-C3D4F96B4C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23" y="1402690"/>
            <a:ext cx="9831050" cy="25161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9BE94D-8BC5-1CEA-E702-ADF388BEAF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361" y="4228235"/>
            <a:ext cx="8506918" cy="99358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16646D-C3B3-1A3B-DDE5-6EDBE7246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937810"/>
              </p:ext>
            </p:extLst>
          </p:nvPr>
        </p:nvGraphicFramePr>
        <p:xfrm>
          <a:off x="9037820" y="4459574"/>
          <a:ext cx="1568972" cy="422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43">
                  <a:extLst>
                    <a:ext uri="{9D8B030D-6E8A-4147-A177-3AD203B41FA5}">
                      <a16:colId xmlns:a16="http://schemas.microsoft.com/office/drawing/2014/main" val="2132668535"/>
                    </a:ext>
                  </a:extLst>
                </a:gridCol>
                <a:gridCol w="392243">
                  <a:extLst>
                    <a:ext uri="{9D8B030D-6E8A-4147-A177-3AD203B41FA5}">
                      <a16:colId xmlns:a16="http://schemas.microsoft.com/office/drawing/2014/main" val="1569939376"/>
                    </a:ext>
                  </a:extLst>
                </a:gridCol>
                <a:gridCol w="392243">
                  <a:extLst>
                    <a:ext uri="{9D8B030D-6E8A-4147-A177-3AD203B41FA5}">
                      <a16:colId xmlns:a16="http://schemas.microsoft.com/office/drawing/2014/main" val="1984168994"/>
                    </a:ext>
                  </a:extLst>
                </a:gridCol>
                <a:gridCol w="392243">
                  <a:extLst>
                    <a:ext uri="{9D8B030D-6E8A-4147-A177-3AD203B41FA5}">
                      <a16:colId xmlns:a16="http://schemas.microsoft.com/office/drawing/2014/main" val="3190066830"/>
                    </a:ext>
                  </a:extLst>
                </a:gridCol>
              </a:tblGrid>
              <a:tr h="4229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3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653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97D69-BC1A-C2CD-67F5-FB120095D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29E9F4-290B-0E20-3E78-9E5574887B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F403F8-649B-6B99-9D49-CE2B8E813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74D3738-396F-BF6C-873C-22EE2A3DF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pic>
        <p:nvPicPr>
          <p:cNvPr id="2" name="Picture 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FB00F724-7827-B116-3538-93A8A3B08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36" y="1588800"/>
            <a:ext cx="10249525" cy="1769154"/>
          </a:xfrm>
          <a:prstGeom prst="rect">
            <a:avLst/>
          </a:prstGeom>
        </p:spPr>
      </p:pic>
      <p:pic>
        <p:nvPicPr>
          <p:cNvPr id="4" name="Picture 3" descr="A close up of a text&#10;&#10;AI-generated content may be incorrect.">
            <a:extLst>
              <a:ext uri="{FF2B5EF4-FFF2-40B4-BE49-F238E27FC236}">
                <a16:creationId xmlns:a16="http://schemas.microsoft.com/office/drawing/2014/main" id="{A78CA090-1DC1-44DC-558F-C51A5235F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8250" y="3551419"/>
            <a:ext cx="4703633" cy="172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28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7CE86-DF55-4454-FE6F-EE6D81A2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012A57-B77A-A20D-5F4A-0F8B24D53E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F08DCA-836B-9E3E-0BC9-415BFE308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593130F5-45FD-1947-1348-1DEF10A3B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pic>
        <p:nvPicPr>
          <p:cNvPr id="2" name="Picture 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EAD27A0-948C-D910-DF7D-07DC5DD28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36" y="1393691"/>
            <a:ext cx="9668655" cy="2296782"/>
          </a:xfrm>
          <a:prstGeom prst="rect">
            <a:avLst/>
          </a:prstGeom>
        </p:spPr>
      </p:pic>
      <p:pic>
        <p:nvPicPr>
          <p:cNvPr id="4" name="Picture 3" descr="A close-up of a word&#10;&#10;AI-generated content may be incorrect.">
            <a:extLst>
              <a:ext uri="{FF2B5EF4-FFF2-40B4-BE49-F238E27FC236}">
                <a16:creationId xmlns:a16="http://schemas.microsoft.com/office/drawing/2014/main" id="{52183E69-88BB-B28A-F361-5168F841BA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913" y="3864963"/>
            <a:ext cx="4704257" cy="160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21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6E00-A72A-9872-3B33-7D3545C80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C554F5-CDF4-9F64-4D70-C3DAF77170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C326EF-6058-0C8F-2C66-AD8A28518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D6829DD-AD44-5237-E867-389619E13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474FA6-45E8-FEAC-BFB2-C65C0C39D7D3}"/>
              </a:ext>
            </a:extLst>
          </p:cNvPr>
          <p:cNvSpPr txBox="1"/>
          <p:nvPr/>
        </p:nvSpPr>
        <p:spPr>
          <a:xfrm>
            <a:off x="868180" y="1336623"/>
            <a:ext cx="8825459" cy="12711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930" kern="1200">
                <a:solidFill>
                  <a:srgbClr val="1B355D"/>
                </a:solidFill>
                <a:latin typeface="Aptos"/>
                <a:ea typeface="+mn-ea"/>
                <a:cs typeface="+mn-cs"/>
              </a:rPr>
              <a:t>The price data is divided in 4 segments, of 2000 days total</a:t>
            </a:r>
          </a:p>
          <a:p>
            <a:pPr algn="ctr"/>
            <a:endParaRPr lang="en-US"/>
          </a:p>
        </p:txBody>
      </p: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05CBBCEC-983F-AAD5-80B9-8D89234E4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450" y="4503295"/>
            <a:ext cx="3223197" cy="45595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F035356-6135-26A8-DED8-ADCE2182C75E}"/>
              </a:ext>
            </a:extLst>
          </p:cNvPr>
          <p:cNvGraphicFramePr>
            <a:graphicFrameLocks noGrp="1"/>
          </p:cNvGraphicFramePr>
          <p:nvPr/>
        </p:nvGraphicFramePr>
        <p:xfrm>
          <a:off x="979147" y="2924971"/>
          <a:ext cx="3225804" cy="140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17">
                  <a:extLst>
                    <a:ext uri="{9D8B030D-6E8A-4147-A177-3AD203B41FA5}">
                      <a16:colId xmlns:a16="http://schemas.microsoft.com/office/drawing/2014/main" val="1789592741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993699756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1877693464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770736198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441811914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1705965243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046219911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797988452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870037268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403379851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1132888658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083377738"/>
                    </a:ext>
                  </a:extLst>
                </a:gridCol>
              </a:tblGrid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472899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192981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778772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17979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79132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5FAC12-2087-C9AC-FE53-9A2CC2F62AD3}"/>
              </a:ext>
            </a:extLst>
          </p:cNvPr>
          <p:cNvSpPr txBox="1"/>
          <p:nvPr/>
        </p:nvSpPr>
        <p:spPr>
          <a:xfrm>
            <a:off x="1583899" y="4996899"/>
            <a:ext cx="201118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1600">
                <a:solidFill>
                  <a:srgbClr val="005CB8"/>
                </a:solidFill>
                <a:latin typeface="Aptos"/>
              </a:rPr>
              <a:t>750</a:t>
            </a:r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 days: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r>
              <a:rPr lang="en-US" sz="1600">
                <a:solidFill>
                  <a:srgbClr val="005CB8"/>
                </a:solidFill>
                <a:latin typeface="Aptos"/>
              </a:rPr>
              <a:t>Competition kick-off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endParaRPr lang="en-US" sz="12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218353-8F0B-5039-818F-A2924AC132C1}"/>
              </a:ext>
            </a:extLst>
          </p:cNvPr>
          <p:cNvCxnSpPr/>
          <p:nvPr/>
        </p:nvCxnSpPr>
        <p:spPr>
          <a:xfrm>
            <a:off x="990600" y="5807528"/>
            <a:ext cx="3211285" cy="90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DDF3C6-80AA-1BEA-E745-E1AD45CDD923}"/>
              </a:ext>
            </a:extLst>
          </p:cNvPr>
          <p:cNvSpPr txBox="1"/>
          <p:nvPr/>
        </p:nvSpPr>
        <p:spPr>
          <a:xfrm>
            <a:off x="1583899" y="5642784"/>
            <a:ext cx="2011180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005CB8"/>
                </a:solidFill>
                <a:latin typeface="Aptos"/>
              </a:rPr>
              <a:t>Live leaderboard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10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66B2E-0234-9F3C-AA61-BC387AED9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4E3F8E-DA80-9BDC-7035-59FC3AFBB8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3B677F-FD4D-E9B1-E943-1493D9288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681DD59-1DEF-20C6-1BC5-0C0EACB5B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7C4996-5035-EF7E-B019-A90878DC3873}"/>
              </a:ext>
            </a:extLst>
          </p:cNvPr>
          <p:cNvSpPr txBox="1"/>
          <p:nvPr/>
        </p:nvSpPr>
        <p:spPr>
          <a:xfrm>
            <a:off x="868180" y="1336623"/>
            <a:ext cx="8825459" cy="12711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930" kern="1200">
                <a:solidFill>
                  <a:srgbClr val="1B355D"/>
                </a:solidFill>
                <a:latin typeface="Aptos"/>
                <a:ea typeface="+mn-ea"/>
                <a:cs typeface="+mn-cs"/>
              </a:rPr>
              <a:t>The price data is divided in 4 segments, of 2000 days total</a:t>
            </a:r>
          </a:p>
          <a:p>
            <a:pPr algn="ctr"/>
            <a:endParaRPr lang="en-US"/>
          </a:p>
        </p:txBody>
      </p: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39C7F6C4-EFF7-65CC-CAFD-7B550114E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450" y="4503295"/>
            <a:ext cx="3223197" cy="45595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DE8E06-F353-F78A-DD07-F33B06DEBCA2}"/>
              </a:ext>
            </a:extLst>
          </p:cNvPr>
          <p:cNvGraphicFramePr>
            <a:graphicFrameLocks noGrp="1"/>
          </p:cNvGraphicFramePr>
          <p:nvPr/>
        </p:nvGraphicFramePr>
        <p:xfrm>
          <a:off x="979147" y="2924971"/>
          <a:ext cx="3225804" cy="140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17">
                  <a:extLst>
                    <a:ext uri="{9D8B030D-6E8A-4147-A177-3AD203B41FA5}">
                      <a16:colId xmlns:a16="http://schemas.microsoft.com/office/drawing/2014/main" val="1789592741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993699756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1877693464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770736198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441811914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1705965243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046219911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797988452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870037268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403379851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1132888658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083377738"/>
                    </a:ext>
                  </a:extLst>
                </a:gridCol>
              </a:tblGrid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472899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192981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778772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17979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79132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EF7CAD-DF3E-6643-4BAD-554BDBF30C67}"/>
              </a:ext>
            </a:extLst>
          </p:cNvPr>
          <p:cNvGraphicFramePr>
            <a:graphicFrameLocks noGrp="1"/>
          </p:cNvGraphicFramePr>
          <p:nvPr/>
        </p:nvGraphicFramePr>
        <p:xfrm>
          <a:off x="4200889" y="2924971"/>
          <a:ext cx="1079500" cy="140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3337115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85456863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82801174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900931415"/>
                    </a:ext>
                  </a:extLst>
                </a:gridCol>
              </a:tblGrid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116269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98018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39313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15208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56462"/>
                  </a:ext>
                </a:extLst>
              </a:tr>
            </a:tbl>
          </a:graphicData>
        </a:graphic>
      </p:graphicFrame>
      <p:pic>
        <p:nvPicPr>
          <p:cNvPr id="11" name="Picture 10" descr="A blue line on a black background&#10;&#10;AI-generated content may be incorrect.">
            <a:extLst>
              <a:ext uri="{FF2B5EF4-FFF2-40B4-BE49-F238E27FC236}">
                <a16:creationId xmlns:a16="http://schemas.microsoft.com/office/drawing/2014/main" id="{C798D4E0-B805-0748-ECDD-61D2DA87BE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68" y="2371960"/>
            <a:ext cx="4380720" cy="483902"/>
          </a:xfrm>
          <a:prstGeom prst="rect">
            <a:avLst/>
          </a:prstGeom>
        </p:spPr>
      </p:pic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D12C913F-564B-08C7-DC76-82B3BE6736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784" y="4503295"/>
            <a:ext cx="1051186" cy="4871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601396-E83F-8EFD-C731-878827437D40}"/>
              </a:ext>
            </a:extLst>
          </p:cNvPr>
          <p:cNvSpPr txBox="1"/>
          <p:nvPr/>
        </p:nvSpPr>
        <p:spPr>
          <a:xfrm>
            <a:off x="3753786" y="5040443"/>
            <a:ext cx="201118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1600">
                <a:solidFill>
                  <a:srgbClr val="005CB8"/>
                </a:solidFill>
                <a:latin typeface="Aptos"/>
              </a:rPr>
              <a:t>250</a:t>
            </a:r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 days: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r>
              <a:rPr lang="en-US" sz="1600">
                <a:solidFill>
                  <a:srgbClr val="005CB8"/>
                </a:solidFill>
                <a:latin typeface="Aptos"/>
              </a:rPr>
              <a:t>General round</a:t>
            </a:r>
            <a:endParaRPr lang="en-US"/>
          </a:p>
          <a:p>
            <a:pPr algn="ctr"/>
            <a:endParaRPr 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C51C3C-D3A1-1E12-8069-28DDC40BBC9D}"/>
              </a:ext>
            </a:extLst>
          </p:cNvPr>
          <p:cNvSpPr txBox="1"/>
          <p:nvPr/>
        </p:nvSpPr>
        <p:spPr>
          <a:xfrm>
            <a:off x="1583899" y="4996899"/>
            <a:ext cx="201118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1600">
                <a:solidFill>
                  <a:srgbClr val="005CB8"/>
                </a:solidFill>
                <a:latin typeface="Aptos"/>
              </a:rPr>
              <a:t>750</a:t>
            </a:r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 days: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r>
              <a:rPr lang="en-US" sz="1600">
                <a:solidFill>
                  <a:srgbClr val="005CB8"/>
                </a:solidFill>
                <a:latin typeface="Aptos"/>
              </a:rPr>
              <a:t>Competition kick-off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endParaRPr 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8DCE12-C800-A77D-D6A9-555772AB9745}"/>
              </a:ext>
            </a:extLst>
          </p:cNvPr>
          <p:cNvSpPr txBox="1"/>
          <p:nvPr/>
        </p:nvSpPr>
        <p:spPr>
          <a:xfrm>
            <a:off x="2685500" y="1996487"/>
            <a:ext cx="1286656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1600">
                <a:solidFill>
                  <a:srgbClr val="005CB8"/>
                </a:solidFill>
                <a:latin typeface="Aptos"/>
              </a:rPr>
              <a:t>1000</a:t>
            </a:r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 days</a:t>
            </a:r>
          </a:p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0113B2-8471-22A2-4B59-247AC9D0EA88}"/>
              </a:ext>
            </a:extLst>
          </p:cNvPr>
          <p:cNvCxnSpPr/>
          <p:nvPr/>
        </p:nvCxnSpPr>
        <p:spPr>
          <a:xfrm>
            <a:off x="1034142" y="5814785"/>
            <a:ext cx="4227285" cy="90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E30CFFC-B4BF-D78F-2989-8F9DCBFFA11A}"/>
              </a:ext>
            </a:extLst>
          </p:cNvPr>
          <p:cNvSpPr txBox="1"/>
          <p:nvPr/>
        </p:nvSpPr>
        <p:spPr>
          <a:xfrm>
            <a:off x="2113670" y="5642784"/>
            <a:ext cx="2011180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005CB8"/>
                </a:solidFill>
                <a:latin typeface="Aptos"/>
              </a:rPr>
              <a:t>Live leaderboard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43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C5FB-1A30-DB9F-67FE-6DB66C4E3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1BDCB3-119F-0C8D-89F1-9967BD10D9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8774ED-AD89-6FA7-2BFD-352015293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5A78A28D-773E-CCAE-9097-FF2BEFF08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526301-600F-9A3D-5DB8-0BB59BD8AE2A}"/>
              </a:ext>
            </a:extLst>
          </p:cNvPr>
          <p:cNvSpPr txBox="1"/>
          <p:nvPr/>
        </p:nvSpPr>
        <p:spPr>
          <a:xfrm>
            <a:off x="868180" y="1336623"/>
            <a:ext cx="8825459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kern="1200">
                <a:solidFill>
                  <a:srgbClr val="1B355D"/>
                </a:solidFill>
                <a:latin typeface="Aptos"/>
                <a:ea typeface="+mn-ea"/>
                <a:cs typeface="+mn-cs"/>
              </a:rPr>
              <a:t>The price data is divided in 4 segments, of 2000 days </a:t>
            </a:r>
            <a:r>
              <a:rPr lang="en-US" sz="2900">
                <a:solidFill>
                  <a:srgbClr val="1B355D"/>
                </a:solidFill>
                <a:latin typeface="Aptos"/>
              </a:rPr>
              <a:t>total</a:t>
            </a:r>
            <a:endParaRPr lang="en-US" kern="1200">
              <a:solidFill>
                <a:srgbClr val="000000"/>
              </a:solidFill>
              <a:latin typeface="Aptos"/>
            </a:endParaRPr>
          </a:p>
          <a:p>
            <a:pPr algn="ctr"/>
            <a:endParaRPr lang="en-US"/>
          </a:p>
        </p:txBody>
      </p: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500A8805-261B-FC05-ABE7-ED41012AA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450" y="4503295"/>
            <a:ext cx="3223197" cy="45595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9C173C-326E-5A6E-D2A4-31DBAF754F90}"/>
              </a:ext>
            </a:extLst>
          </p:cNvPr>
          <p:cNvGraphicFramePr>
            <a:graphicFrameLocks noGrp="1"/>
          </p:cNvGraphicFramePr>
          <p:nvPr/>
        </p:nvGraphicFramePr>
        <p:xfrm>
          <a:off x="979147" y="2924971"/>
          <a:ext cx="3225804" cy="140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17">
                  <a:extLst>
                    <a:ext uri="{9D8B030D-6E8A-4147-A177-3AD203B41FA5}">
                      <a16:colId xmlns:a16="http://schemas.microsoft.com/office/drawing/2014/main" val="1789592741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993699756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1877693464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770736198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441811914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1705965243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046219911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797988452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870037268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403379851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1132888658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083377738"/>
                    </a:ext>
                  </a:extLst>
                </a:gridCol>
              </a:tblGrid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472899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192981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778772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17979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79132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FBC9E96-3AC7-D182-21D4-6C8FDF04589B}"/>
              </a:ext>
            </a:extLst>
          </p:cNvPr>
          <p:cNvGraphicFramePr>
            <a:graphicFrameLocks noGrp="1"/>
          </p:cNvGraphicFramePr>
          <p:nvPr/>
        </p:nvGraphicFramePr>
        <p:xfrm>
          <a:off x="4200889" y="2924971"/>
          <a:ext cx="1079500" cy="140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3337115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85456863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82801174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900931415"/>
                    </a:ext>
                  </a:extLst>
                </a:gridCol>
              </a:tblGrid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116269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98018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39313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15208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56462"/>
                  </a:ext>
                </a:extLst>
              </a:tr>
            </a:tbl>
          </a:graphicData>
        </a:graphic>
      </p:graphicFrame>
      <p:pic>
        <p:nvPicPr>
          <p:cNvPr id="11" name="Picture 10" descr="A blue line on a black background&#10;&#10;AI-generated content may be incorrect.">
            <a:extLst>
              <a:ext uri="{FF2B5EF4-FFF2-40B4-BE49-F238E27FC236}">
                <a16:creationId xmlns:a16="http://schemas.microsoft.com/office/drawing/2014/main" id="{A5FBDE36-88CE-A376-73B0-AF83C5E34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436" y="2384451"/>
            <a:ext cx="6465303" cy="452673"/>
          </a:xfrm>
          <a:prstGeom prst="rect">
            <a:avLst/>
          </a:prstGeom>
        </p:spPr>
      </p:pic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080C6AFA-0C12-44B4-456A-45190E8E88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784" y="4503295"/>
            <a:ext cx="1051186" cy="4871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0A93E97-9045-46EF-B164-D82D94D4DB41}"/>
              </a:ext>
            </a:extLst>
          </p:cNvPr>
          <p:cNvSpPr txBox="1"/>
          <p:nvPr/>
        </p:nvSpPr>
        <p:spPr>
          <a:xfrm>
            <a:off x="3753786" y="5040443"/>
            <a:ext cx="201118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1600">
                <a:solidFill>
                  <a:srgbClr val="005CB8"/>
                </a:solidFill>
                <a:latin typeface="Aptos"/>
              </a:rPr>
              <a:t>250</a:t>
            </a:r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 days: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r>
              <a:rPr lang="en-US" sz="1600">
                <a:solidFill>
                  <a:srgbClr val="005CB8"/>
                </a:solidFill>
                <a:latin typeface="Aptos"/>
              </a:rPr>
              <a:t>General round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endParaRPr lang="en-US" sz="120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A835140-014E-E87D-4AEE-3D1A3723F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07976"/>
              </p:ext>
            </p:extLst>
          </p:nvPr>
        </p:nvGraphicFramePr>
        <p:xfrm>
          <a:off x="5285074" y="2924971"/>
          <a:ext cx="2159000" cy="140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418748320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42168968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42615062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10935845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114691520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114136920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72432380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584954404"/>
                    </a:ext>
                  </a:extLst>
                </a:gridCol>
              </a:tblGrid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392324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944389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71996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038540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946019"/>
                  </a:ext>
                </a:extLst>
              </a:tr>
            </a:tbl>
          </a:graphicData>
        </a:graphic>
      </p:graphicFrame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A1DF49F1-BF25-72BD-2E61-3EB7108E85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5504" y="4503294"/>
            <a:ext cx="2136880" cy="4559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83CBBEF-B693-EC01-7BBF-43AC2A76F905}"/>
              </a:ext>
            </a:extLst>
          </p:cNvPr>
          <p:cNvSpPr txBox="1"/>
          <p:nvPr/>
        </p:nvSpPr>
        <p:spPr>
          <a:xfrm>
            <a:off x="5096655" y="5040443"/>
            <a:ext cx="2667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500 days:</a:t>
            </a:r>
            <a:endParaRPr lang="en-US" sz="1600"/>
          </a:p>
          <a:p>
            <a:pPr marL="0" algn="ctr" rtl="0"/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Finalist </a:t>
            </a:r>
            <a:r>
              <a:rPr lang="en-US" sz="1600">
                <a:solidFill>
                  <a:srgbClr val="005CB8"/>
                </a:solidFill>
                <a:latin typeface="Aptos"/>
              </a:rPr>
              <a:t>Selection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2B7750-3377-572F-1F4B-90A797383B5F}"/>
              </a:ext>
            </a:extLst>
          </p:cNvPr>
          <p:cNvSpPr txBox="1"/>
          <p:nvPr/>
        </p:nvSpPr>
        <p:spPr>
          <a:xfrm>
            <a:off x="3752300" y="1989230"/>
            <a:ext cx="1286656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1600">
                <a:solidFill>
                  <a:srgbClr val="005CB8"/>
                </a:solidFill>
                <a:latin typeface="Aptos"/>
              </a:rPr>
              <a:t>1500</a:t>
            </a:r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 days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675917-60E0-C4A7-A43C-346AC96D2F2D}"/>
              </a:ext>
            </a:extLst>
          </p:cNvPr>
          <p:cNvSpPr txBox="1"/>
          <p:nvPr/>
        </p:nvSpPr>
        <p:spPr>
          <a:xfrm>
            <a:off x="1583899" y="4996899"/>
            <a:ext cx="201118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1600">
                <a:solidFill>
                  <a:srgbClr val="005CB8"/>
                </a:solidFill>
                <a:latin typeface="Aptos"/>
              </a:rPr>
              <a:t>750</a:t>
            </a:r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 days: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r>
              <a:rPr lang="en-US" sz="1600">
                <a:solidFill>
                  <a:srgbClr val="005CB8"/>
                </a:solidFill>
                <a:latin typeface="Aptos"/>
              </a:rPr>
              <a:t>Competition kick-off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endParaRPr lang="en-US" sz="120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D12F3A-A6DD-4344-31BD-51E6E7E40B80}"/>
              </a:ext>
            </a:extLst>
          </p:cNvPr>
          <p:cNvCxnSpPr/>
          <p:nvPr/>
        </p:nvCxnSpPr>
        <p:spPr>
          <a:xfrm>
            <a:off x="1034142" y="5814785"/>
            <a:ext cx="4227285" cy="90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13BC10A-5663-BD29-6346-58D1DA489929}"/>
              </a:ext>
            </a:extLst>
          </p:cNvPr>
          <p:cNvSpPr txBox="1"/>
          <p:nvPr/>
        </p:nvSpPr>
        <p:spPr>
          <a:xfrm>
            <a:off x="2113670" y="5642784"/>
            <a:ext cx="2011180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005CB8"/>
                </a:solidFill>
                <a:latin typeface="Aptos"/>
              </a:rPr>
              <a:t>Live leaderboard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5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1D61A-3D4C-78A6-189F-485F4E391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A74E1B-2D6F-5C29-DE1B-9014ED4D2F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F9C311-00F1-7ADB-9C0D-73C730611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78" y="556400"/>
            <a:ext cx="524861" cy="539440"/>
          </a:xfrm>
          <a:prstGeom prst="rect">
            <a:avLst/>
          </a:prstGeom>
        </p:spPr>
      </p:pic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1BBC222-47D5-B42D-BE23-A2CF59892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35" y="306714"/>
            <a:ext cx="8937886" cy="1154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4BC63C-BCCF-A7EB-E890-C30D2EACA93C}"/>
              </a:ext>
            </a:extLst>
          </p:cNvPr>
          <p:cNvSpPr txBox="1"/>
          <p:nvPr/>
        </p:nvSpPr>
        <p:spPr>
          <a:xfrm>
            <a:off x="868180" y="1336623"/>
            <a:ext cx="8825459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kern="1200">
                <a:solidFill>
                  <a:srgbClr val="1B355D"/>
                </a:solidFill>
                <a:latin typeface="Aptos"/>
                <a:ea typeface="+mn-ea"/>
                <a:cs typeface="+mn-cs"/>
              </a:rPr>
              <a:t>The price data is divided in 4 segments, of 2000 days </a:t>
            </a:r>
            <a:r>
              <a:rPr lang="en-US" sz="2900">
                <a:solidFill>
                  <a:srgbClr val="1B355D"/>
                </a:solidFill>
                <a:latin typeface="Aptos"/>
              </a:rPr>
              <a:t>total</a:t>
            </a:r>
            <a:endParaRPr lang="en-US" kern="1200">
              <a:solidFill>
                <a:srgbClr val="000000"/>
              </a:solidFill>
              <a:latin typeface="Aptos"/>
            </a:endParaRPr>
          </a:p>
          <a:p>
            <a:pPr algn="ctr"/>
            <a:endParaRPr lang="en-US"/>
          </a:p>
        </p:txBody>
      </p: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C9043C42-6046-EECF-0CA4-575927CC6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450" y="4503295"/>
            <a:ext cx="3223197" cy="45595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3A9C9E4-8F0E-6B08-CF64-4D21BE224C47}"/>
              </a:ext>
            </a:extLst>
          </p:cNvPr>
          <p:cNvGraphicFramePr>
            <a:graphicFrameLocks noGrp="1"/>
          </p:cNvGraphicFramePr>
          <p:nvPr/>
        </p:nvGraphicFramePr>
        <p:xfrm>
          <a:off x="979147" y="2924971"/>
          <a:ext cx="3225804" cy="140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17">
                  <a:extLst>
                    <a:ext uri="{9D8B030D-6E8A-4147-A177-3AD203B41FA5}">
                      <a16:colId xmlns:a16="http://schemas.microsoft.com/office/drawing/2014/main" val="1789592741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993699756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1877693464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770736198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441811914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1705965243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046219911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797988452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870037268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403379851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1132888658"/>
                    </a:ext>
                  </a:extLst>
                </a:gridCol>
                <a:gridCol w="268817">
                  <a:extLst>
                    <a:ext uri="{9D8B030D-6E8A-4147-A177-3AD203B41FA5}">
                      <a16:colId xmlns:a16="http://schemas.microsoft.com/office/drawing/2014/main" val="3083377738"/>
                    </a:ext>
                  </a:extLst>
                </a:gridCol>
              </a:tblGrid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472899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192981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778772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17979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79132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A4C704D-A838-CAF8-F0BE-A2A60BEA4102}"/>
              </a:ext>
            </a:extLst>
          </p:cNvPr>
          <p:cNvGraphicFramePr>
            <a:graphicFrameLocks noGrp="1"/>
          </p:cNvGraphicFramePr>
          <p:nvPr/>
        </p:nvGraphicFramePr>
        <p:xfrm>
          <a:off x="4200889" y="2924971"/>
          <a:ext cx="1079500" cy="140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3337115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85456863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82801174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900931415"/>
                    </a:ext>
                  </a:extLst>
                </a:gridCol>
              </a:tblGrid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116269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98018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39313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15208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56462"/>
                  </a:ext>
                </a:extLst>
              </a:tr>
            </a:tbl>
          </a:graphicData>
        </a:graphic>
      </p:graphicFrame>
      <p:pic>
        <p:nvPicPr>
          <p:cNvPr id="11" name="Picture 10" descr="A blue line on a black background&#10;&#10;AI-generated content may be incorrect.">
            <a:extLst>
              <a:ext uri="{FF2B5EF4-FFF2-40B4-BE49-F238E27FC236}">
                <a16:creationId xmlns:a16="http://schemas.microsoft.com/office/drawing/2014/main" id="{8DD2C5DF-5CF5-6220-DFB3-4C2B1FA163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436" y="2384451"/>
            <a:ext cx="8627931" cy="452673"/>
          </a:xfrm>
          <a:prstGeom prst="rect">
            <a:avLst/>
          </a:prstGeom>
        </p:spPr>
      </p:pic>
      <p:pic>
        <p:nvPicPr>
          <p:cNvPr id="2" name="Picture 1" descr="A blue and black logo&#10;&#10;AI-generated content may be incorrect.">
            <a:extLst>
              <a:ext uri="{FF2B5EF4-FFF2-40B4-BE49-F238E27FC236}">
                <a16:creationId xmlns:a16="http://schemas.microsoft.com/office/drawing/2014/main" id="{7B3CB571-0D67-A1CC-69DB-318B86A2AE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784" y="4503295"/>
            <a:ext cx="1051186" cy="4871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5A0AEA-71FD-9DA4-25DE-82843CD45EAB}"/>
              </a:ext>
            </a:extLst>
          </p:cNvPr>
          <p:cNvSpPr txBox="1"/>
          <p:nvPr/>
        </p:nvSpPr>
        <p:spPr>
          <a:xfrm>
            <a:off x="3753786" y="5040443"/>
            <a:ext cx="201118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1600">
                <a:solidFill>
                  <a:srgbClr val="005CB8"/>
                </a:solidFill>
                <a:latin typeface="Aptos"/>
              </a:rPr>
              <a:t>250</a:t>
            </a:r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 days: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r>
              <a:rPr lang="en-US" sz="1600">
                <a:solidFill>
                  <a:srgbClr val="005CB8"/>
                </a:solidFill>
                <a:latin typeface="Aptos"/>
              </a:rPr>
              <a:t>General round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endParaRPr lang="en-US" sz="120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CDC7530-CCF9-3840-E604-CE273DAB139A}"/>
              </a:ext>
            </a:extLst>
          </p:cNvPr>
          <p:cNvGraphicFramePr>
            <a:graphicFrameLocks noGrp="1"/>
          </p:cNvGraphicFramePr>
          <p:nvPr/>
        </p:nvGraphicFramePr>
        <p:xfrm>
          <a:off x="5285074" y="2924971"/>
          <a:ext cx="2159000" cy="140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418748320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42168968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42615062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10935845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114691520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114136920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72432380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584954404"/>
                    </a:ext>
                  </a:extLst>
                </a:gridCol>
              </a:tblGrid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392324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944389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71996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038540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946019"/>
                  </a:ext>
                </a:extLst>
              </a:tr>
            </a:tbl>
          </a:graphicData>
        </a:graphic>
      </p:graphicFrame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C5E11575-0547-3591-E849-4AF306FE6E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5504" y="4503294"/>
            <a:ext cx="2136880" cy="4559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F04612-FE20-8AB3-CB5E-36E499EA7284}"/>
              </a:ext>
            </a:extLst>
          </p:cNvPr>
          <p:cNvSpPr txBox="1"/>
          <p:nvPr/>
        </p:nvSpPr>
        <p:spPr>
          <a:xfrm>
            <a:off x="5096655" y="5040443"/>
            <a:ext cx="2667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500 days:</a:t>
            </a:r>
            <a:endParaRPr lang="en-US" sz="1600"/>
          </a:p>
          <a:p>
            <a:pPr marL="0" algn="ctr" rtl="0"/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Finalist </a:t>
            </a:r>
            <a:r>
              <a:rPr lang="en-US" sz="1600">
                <a:solidFill>
                  <a:srgbClr val="005CB8"/>
                </a:solidFill>
                <a:latin typeface="Aptos"/>
              </a:rPr>
              <a:t>Selection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2AC5D4-46D5-3186-0C07-E51E4567C6CA}"/>
              </a:ext>
            </a:extLst>
          </p:cNvPr>
          <p:cNvSpPr txBox="1"/>
          <p:nvPr/>
        </p:nvSpPr>
        <p:spPr>
          <a:xfrm>
            <a:off x="4659443" y="1967459"/>
            <a:ext cx="1286656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1600">
                <a:solidFill>
                  <a:srgbClr val="005CB8"/>
                </a:solidFill>
                <a:latin typeface="Aptos"/>
              </a:rPr>
              <a:t>2000</a:t>
            </a:r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 days</a:t>
            </a:r>
          </a:p>
          <a:p>
            <a:pPr algn="ctr"/>
            <a:endParaRPr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65F005F-3419-3D07-63FF-C7F4FC430715}"/>
              </a:ext>
            </a:extLst>
          </p:cNvPr>
          <p:cNvGraphicFramePr>
            <a:graphicFrameLocks noGrp="1"/>
          </p:cNvGraphicFramePr>
          <p:nvPr/>
        </p:nvGraphicFramePr>
        <p:xfrm>
          <a:off x="7446156" y="2924971"/>
          <a:ext cx="2159000" cy="140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61911496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19052588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62512191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81952814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15633206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21371537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8574295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824466180"/>
                    </a:ext>
                  </a:extLst>
                </a:gridCol>
              </a:tblGrid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47493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672255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79281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25696"/>
                  </a:ext>
                </a:extLst>
              </a:tr>
              <a:tr h="281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926048"/>
                  </a:ext>
                </a:extLst>
              </a:tr>
            </a:tbl>
          </a:graphicData>
        </a:graphic>
      </p:graphicFrame>
      <p:pic>
        <p:nvPicPr>
          <p:cNvPr id="21" name="Picture 20" descr="A blue and black logo&#10;&#10;AI-generated content may be incorrect.">
            <a:extLst>
              <a:ext uri="{FF2B5EF4-FFF2-40B4-BE49-F238E27FC236}">
                <a16:creationId xmlns:a16="http://schemas.microsoft.com/office/drawing/2014/main" id="{39466C81-70CA-3595-1526-86BE278542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0339" y="4503293"/>
            <a:ext cx="2136880" cy="4559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C5C95AB-201E-5418-2A21-EEC06191304A}"/>
              </a:ext>
            </a:extLst>
          </p:cNvPr>
          <p:cNvSpPr txBox="1"/>
          <p:nvPr/>
        </p:nvSpPr>
        <p:spPr>
          <a:xfrm>
            <a:off x="7195277" y="4996721"/>
            <a:ext cx="2667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500 days:</a:t>
            </a:r>
            <a:endParaRPr lang="en-US" sz="1600"/>
          </a:p>
          <a:p>
            <a:pPr algn="ctr"/>
            <a:r>
              <a:rPr lang="en-US" sz="1600">
                <a:solidFill>
                  <a:srgbClr val="005CB8"/>
                </a:solidFill>
                <a:latin typeface="Aptos"/>
              </a:rPr>
              <a:t>Final Round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FD0CD5-92AC-DA32-0017-E89A9AC1C45A}"/>
              </a:ext>
            </a:extLst>
          </p:cNvPr>
          <p:cNvSpPr txBox="1"/>
          <p:nvPr/>
        </p:nvSpPr>
        <p:spPr>
          <a:xfrm>
            <a:off x="1583899" y="4996899"/>
            <a:ext cx="201118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en-US" sz="1600">
                <a:solidFill>
                  <a:srgbClr val="005CB8"/>
                </a:solidFill>
                <a:latin typeface="Aptos"/>
              </a:rPr>
              <a:t>750</a:t>
            </a:r>
            <a:r>
              <a:rPr lang="en-US" sz="1600" kern="1200">
                <a:solidFill>
                  <a:srgbClr val="005CB8"/>
                </a:solidFill>
                <a:latin typeface="Aptos"/>
                <a:ea typeface="+mn-ea"/>
                <a:cs typeface="+mn-cs"/>
              </a:rPr>
              <a:t> days: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r>
              <a:rPr lang="en-US" sz="1600">
                <a:solidFill>
                  <a:srgbClr val="005CB8"/>
                </a:solidFill>
                <a:latin typeface="Aptos"/>
              </a:rPr>
              <a:t>Competition kick-off</a:t>
            </a:r>
            <a:endParaRPr lang="en-US" sz="1600" kern="1200">
              <a:solidFill>
                <a:srgbClr val="005CB8"/>
              </a:solidFill>
              <a:latin typeface="Aptos"/>
            </a:endParaRPr>
          </a:p>
          <a:p>
            <a:pPr algn="ctr"/>
            <a:endParaRPr lang="en-US" sz="12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F37AC09-AED7-EA46-35E6-A54CBCE5747F}"/>
              </a:ext>
            </a:extLst>
          </p:cNvPr>
          <p:cNvCxnSpPr/>
          <p:nvPr/>
        </p:nvCxnSpPr>
        <p:spPr>
          <a:xfrm>
            <a:off x="1034142" y="5814785"/>
            <a:ext cx="4227285" cy="90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5CD876A-2EDE-97F1-AC40-D8B7ECAFE75E}"/>
              </a:ext>
            </a:extLst>
          </p:cNvPr>
          <p:cNvSpPr txBox="1"/>
          <p:nvPr/>
        </p:nvSpPr>
        <p:spPr>
          <a:xfrm>
            <a:off x="2113670" y="5642784"/>
            <a:ext cx="2011180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005CB8"/>
                </a:solidFill>
                <a:latin typeface="Aptos"/>
              </a:rPr>
              <a:t>Live leaderboard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43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D5CB-9790-0CA4-5785-C3EB08C3D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E35036-3514-47CC-FB1F-746B28CB3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5A8D72A-8079-10FB-6DFE-B982038A754C}"/>
              </a:ext>
            </a:extLst>
          </p:cNvPr>
          <p:cNvSpPr txBox="1">
            <a:spLocks/>
          </p:cNvSpPr>
          <p:nvPr/>
        </p:nvSpPr>
        <p:spPr>
          <a:xfrm>
            <a:off x="1524000" y="2813185"/>
            <a:ext cx="9144000" cy="914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>
                <a:solidFill>
                  <a:schemeClr val="bg1"/>
                </a:solidFill>
              </a:rPr>
              <a:t>Questions?</a:t>
            </a:r>
            <a:endParaRPr lang="en-AU" sz="6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185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BD513164D59F4496C9CC5B24DFD619" ma:contentTypeVersion="14" ma:contentTypeDescription="Create a new document." ma:contentTypeScope="" ma:versionID="f4a509311829ad70f5f8fe32744d90af">
  <xsd:schema xmlns:xsd="http://www.w3.org/2001/XMLSchema" xmlns:xs="http://www.w3.org/2001/XMLSchema" xmlns:p="http://schemas.microsoft.com/office/2006/metadata/properties" xmlns:ns2="490ba021-4ac1-438e-8665-4f2bc884e626" xmlns:ns3="7b60ff84-d8d3-4238-9799-1445e6fc9ad9" targetNamespace="http://schemas.microsoft.com/office/2006/metadata/properties" ma:root="true" ma:fieldsID="b7e42615a6c0dcb8a8f5eaedfee09c4c" ns2:_="" ns3:_="">
    <xsd:import namespace="490ba021-4ac1-438e-8665-4f2bc884e626"/>
    <xsd:import namespace="7b60ff84-d8d3-4238-9799-1445e6fc9a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ba021-4ac1-438e-8665-4f2bc884e6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8bbce06-2c21-4a29-b0b0-20b60ae23f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60ff84-d8d3-4238-9799-1445e6fc9ad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47e9084-bcba-41bd-8d55-78416dcef26c}" ma:internalName="TaxCatchAll" ma:showField="CatchAllData" ma:web="7b60ff84-d8d3-4238-9799-1445e6fc9a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0ba021-4ac1-438e-8665-4f2bc884e626">
      <Terms xmlns="http://schemas.microsoft.com/office/infopath/2007/PartnerControls"/>
    </lcf76f155ced4ddcb4097134ff3c332f>
    <TaxCatchAll xmlns="7b60ff84-d8d3-4238-9799-1445e6fc9ad9" xsi:nil="true"/>
  </documentManagement>
</p:properties>
</file>

<file path=customXml/itemProps1.xml><?xml version="1.0" encoding="utf-8"?>
<ds:datastoreItem xmlns:ds="http://schemas.openxmlformats.org/officeDocument/2006/customXml" ds:itemID="{F13FEEBC-891F-4F8C-858F-2F515631DA22}">
  <ds:schemaRefs>
    <ds:schemaRef ds:uri="490ba021-4ac1-438e-8665-4f2bc884e626"/>
    <ds:schemaRef ds:uri="7b60ff84-d8d3-4238-9799-1445e6fc9a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D9D35B0-0609-488B-8914-311FDC5926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4D0AE9-7BB6-47B6-B859-A4248B530F86}">
  <ds:schemaRefs>
    <ds:schemaRef ds:uri="490ba021-4ac1-438e-8665-4f2bc884e626"/>
    <ds:schemaRef ds:uri="7b60ff84-d8d3-4238-9799-1445e6fc9ad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228b13cd-e6ed-4b7d-9189-046cda63e163}" enabled="0" method="" siteId="{228b13cd-e6ed-4b7d-9189-046cda63e16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Agenda </vt:lpstr>
      <vt:lpstr>Overview</vt:lpstr>
      <vt:lpstr>Prizes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Mayhew, Cam</dc:creator>
  <cp:revision>3</cp:revision>
  <dcterms:created xsi:type="dcterms:W3CDTF">2026-06-23T00:26:11Z</dcterms:created>
  <dcterms:modified xsi:type="dcterms:W3CDTF">2026-07-08T07:26:25Z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0x01010050BD513164D59F4496C9CC5B24DFD619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_SharedFileIndex">
    <vt:lpwstr/>
  </property>
  <property fmtid="{D5CDD505-2E9C-101B-9397-08002B2CF9AE}" pid="8" name="_SourceUrl">
    <vt:lpwstr/>
  </property>
</Properties>
</file>